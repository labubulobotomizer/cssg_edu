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Figtree"/>
      <p:regular r:id="rId25"/>
      <p:bold r:id="rId26"/>
      <p:italic r:id="rId27"/>
      <p:boldItalic r:id="rId28"/>
    </p:embeddedFont>
    <p:embeddedFont>
      <p:font typeface="JetBrains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Figtree-bold.fntdata"/><Relationship Id="rId25" Type="http://schemas.openxmlformats.org/officeDocument/2006/relationships/font" Target="fonts/Figtree-regular.fntdata"/><Relationship Id="rId28" Type="http://schemas.openxmlformats.org/officeDocument/2006/relationships/font" Target="fonts/Figtree-boldItalic.fntdata"/><Relationship Id="rId27" Type="http://schemas.openxmlformats.org/officeDocument/2006/relationships/font" Target="fonts/Figtree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JetBrains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JetBrainsMono-italic.fntdata"/><Relationship Id="rId30" Type="http://schemas.openxmlformats.org/officeDocument/2006/relationships/font" Target="fonts/JetBrainsMon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JetBrains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b9da0ab04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3b9da0ab04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e565b905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e565b905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8e111499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8e111499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for today!!! Ue github classroom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8e1114990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8e1114990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e11149908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8e11149908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e11149908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e11149908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e11149908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e11149908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8e11149908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8e11149908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e11149908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e11149908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e11149908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e11149908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e11149908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8e11149908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b7276b6c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b7276b6c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b1996ed0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b1996ed0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e11149908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8e11149908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e11149908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8e11149908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e51b7771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e51b7771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b29ea0f6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9b29ea0f6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3b9da0ab04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3b9da0ab04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8700" y="4191000"/>
            <a:ext cx="1099500" cy="952500"/>
          </a:xfrm>
          <a:prstGeom prst="parallelogram">
            <a:avLst>
              <a:gd fmla="val 67478" name="adj"/>
            </a:avLst>
          </a:prstGeom>
          <a:solidFill>
            <a:srgbClr val="28CFC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-8700" y="5097900"/>
            <a:ext cx="91614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5" name="Google Shape;15;p2"/>
          <p:cNvSpPr/>
          <p:nvPr/>
        </p:nvSpPr>
        <p:spPr>
          <a:xfrm flipH="1">
            <a:off x="637975" y="4191000"/>
            <a:ext cx="1526100" cy="952500"/>
          </a:xfrm>
          <a:prstGeom prst="parallelogram">
            <a:avLst>
              <a:gd fmla="val 112000" name="adj"/>
            </a:avLst>
          </a:prstGeom>
          <a:solidFill>
            <a:srgbClr val="25DF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6" name="Google Shape;16;p2"/>
          <p:cNvSpPr/>
          <p:nvPr/>
        </p:nvSpPr>
        <p:spPr>
          <a:xfrm rot="-5400000">
            <a:off x="8117988" y="308563"/>
            <a:ext cx="1099500" cy="952500"/>
          </a:xfrm>
          <a:prstGeom prst="parallelogram">
            <a:avLst>
              <a:gd fmla="val 67478" name="adj"/>
            </a:avLst>
          </a:prstGeom>
          <a:solidFill>
            <a:srgbClr val="2FFB8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7" name="Google Shape;17;p2"/>
          <p:cNvSpPr/>
          <p:nvPr/>
        </p:nvSpPr>
        <p:spPr>
          <a:xfrm flipH="1" rot="-5400000">
            <a:off x="7904688" y="-551412"/>
            <a:ext cx="1526100" cy="952500"/>
          </a:xfrm>
          <a:prstGeom prst="parallelogram">
            <a:avLst>
              <a:gd fmla="val 112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of code">
  <p:cSld name="TITLE_AND_TWO_COLUMNS_2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idx="1" type="body"/>
          </p:nvPr>
        </p:nvSpPr>
        <p:spPr>
          <a:xfrm>
            <a:off x="311700" y="0"/>
            <a:ext cx="3999900" cy="51435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●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○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■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●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○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■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●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○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■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4832400" y="0"/>
            <a:ext cx="3999900" cy="51435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●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○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■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●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○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■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●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○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Font typeface="JetBrains Mono"/>
              <a:buChar char="■"/>
              <a:defRPr sz="1300"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6"/>
          <p:cNvSpPr txBox="1"/>
          <p:nvPr>
            <p:ph idx="3" type="subTitle"/>
          </p:nvPr>
        </p:nvSpPr>
        <p:spPr>
          <a:xfrm rot="-5400000">
            <a:off x="-2337450" y="2382025"/>
            <a:ext cx="5107500" cy="3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4" type="subTitle"/>
          </p:nvPr>
        </p:nvSpPr>
        <p:spPr>
          <a:xfrm rot="-5400000">
            <a:off x="2183250" y="2382025"/>
            <a:ext cx="5107500" cy="34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and half code (right)">
  <p:cSld name="TITLE_AND_TWO_COLUMNS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●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○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■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●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○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■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●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○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■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and half code (left)">
  <p:cSld name="TITLE_AND_TWO_COLUMNS_1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solidFill>
            <a:schemeClr val="dk2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●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  <a:lvl2pPr indent="-3111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○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■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●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○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■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●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○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JetBrains Mono"/>
              <a:buChar char="■"/>
              <a:defRPr sz="1300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2" type="body"/>
          </p:nvPr>
        </p:nvSpPr>
        <p:spPr>
          <a:xfrm>
            <a:off x="4832400" y="1152144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spirational Quote">
  <p:cSld name="MAIN_POINT_1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490250" y="450150"/>
            <a:ext cx="6367800" cy="272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i="1" sz="4800"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1"/>
          <p:cNvSpPr txBox="1"/>
          <p:nvPr>
            <p:ph idx="1" type="subTitle"/>
          </p:nvPr>
        </p:nvSpPr>
        <p:spPr>
          <a:xfrm>
            <a:off x="490250" y="3175050"/>
            <a:ext cx="6367800" cy="13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1"/>
          <p:cNvSpPr/>
          <p:nvPr/>
        </p:nvSpPr>
        <p:spPr>
          <a:xfrm rot="5400000">
            <a:off x="-2549250" y="2548950"/>
            <a:ext cx="51441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1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1" name="Google Shape;61;p1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5" name="Google Shape;65;p13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3"/>
          <p:cNvSpPr/>
          <p:nvPr>
            <p:ph idx="2" type="pic"/>
          </p:nvPr>
        </p:nvSpPr>
        <p:spPr>
          <a:xfrm>
            <a:off x="311700" y="307825"/>
            <a:ext cx="8520600" cy="3922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3"/>
          <p:cNvSpPr/>
          <p:nvPr/>
        </p:nvSpPr>
        <p:spPr>
          <a:xfrm rot="5400000">
            <a:off x="235496" y="231625"/>
            <a:ext cx="603600" cy="603600"/>
          </a:xfrm>
          <a:prstGeom prst="rtTriangle">
            <a:avLst/>
          </a:prstGeom>
          <a:solidFill>
            <a:srgbClr val="25DFC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68" name="Google Shape;68;p13"/>
          <p:cNvSpPr/>
          <p:nvPr/>
        </p:nvSpPr>
        <p:spPr>
          <a:xfrm rot="-5400000">
            <a:off x="8304907" y="3703218"/>
            <a:ext cx="603600" cy="603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046">
          <p15:clr>
            <a:srgbClr val="E46962"/>
          </p15:clr>
        </p15:guide>
        <p15:guide id="2" pos="196">
          <p15:clr>
            <a:srgbClr val="E46962"/>
          </p15:clr>
        </p15:guide>
        <p15:guide id="3" pos="5564">
          <p15:clr>
            <a:srgbClr val="E46962"/>
          </p15:clr>
        </p15:guide>
        <p15:guide id="4" orient="horz" pos="194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None/>
              <a:defRPr sz="12000">
                <a:solidFill>
                  <a:schemeClr val="accen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F">
  <p:cSld name="TITLE_AND_BODY_2_1_1_1_1_1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50350" y="226400"/>
            <a:ext cx="3505500" cy="10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50350" y="1598500"/>
            <a:ext cx="3505500" cy="33186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16"/>
          <p:cNvSpPr/>
          <p:nvPr>
            <p:ph idx="2" type="pic"/>
          </p:nvPr>
        </p:nvSpPr>
        <p:spPr>
          <a:xfrm>
            <a:off x="4101622" y="226350"/>
            <a:ext cx="4690800" cy="4690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"/>
              <a:buNone/>
              <a:defRPr sz="2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Char char="●"/>
              <a:defRPr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gtree"/>
              <a:buChar char="○"/>
              <a:defRPr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gtree"/>
              <a:buChar char="■"/>
              <a:defRPr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gtree"/>
              <a:buChar char="●"/>
              <a:defRPr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gtree"/>
              <a:buChar char="○"/>
              <a:defRPr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gtree"/>
              <a:buChar char="■"/>
              <a:defRPr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gtree"/>
              <a:buChar char="●"/>
              <a:defRPr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gtree"/>
              <a:buChar char="○"/>
              <a:defRPr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Figtree"/>
              <a:buChar char="■"/>
              <a:defRPr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nodejs.org/en/download/current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ctrTitle"/>
          </p:nvPr>
        </p:nvSpPr>
        <p:spPr>
          <a:xfrm>
            <a:off x="311708" y="11023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               </a:t>
            </a:r>
            <a:r>
              <a:rPr lang="en" sz="2600">
                <a:solidFill>
                  <a:schemeClr val="lt2"/>
                </a:solidFill>
              </a:rPr>
              <a:t>Education Team</a:t>
            </a:r>
            <a:endParaRPr sz="2600"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(#2)</a:t>
            </a:r>
            <a:endParaRPr/>
          </a:p>
        </p:txBody>
      </p:sp>
      <p:sp>
        <p:nvSpPr>
          <p:cNvPr id="84" name="Google Shape;84;p17"/>
          <p:cNvSpPr txBox="1"/>
          <p:nvPr>
            <p:ph idx="1" type="subTitle"/>
          </p:nvPr>
        </p:nvSpPr>
        <p:spPr>
          <a:xfrm>
            <a:off x="311700" y="3154900"/>
            <a:ext cx="8520600" cy="16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Week </a:t>
            </a:r>
            <a:r>
              <a:rPr lang="en">
                <a:solidFill>
                  <a:schemeClr val="accent1"/>
                </a:solidFill>
              </a:rPr>
              <a:t>03</a:t>
            </a:r>
            <a:endParaRPr sz="10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</p:txBody>
      </p:sp>
      <p:sp>
        <p:nvSpPr>
          <p:cNvPr id="85" name="Google Shape;85;p17"/>
          <p:cNvSpPr/>
          <p:nvPr/>
        </p:nvSpPr>
        <p:spPr>
          <a:xfrm>
            <a:off x="2788300" y="1306025"/>
            <a:ext cx="1246127" cy="293700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gradFill>
                  <a:gsLst>
                    <a:gs pos="0">
                      <a:srgbClr val="28CFCE"/>
                    </a:gs>
                    <a:gs pos="100000">
                      <a:srgbClr val="2FFB84"/>
                    </a:gs>
                  </a:gsLst>
                  <a:lin ang="5400012" scaled="0"/>
                </a:gradFill>
                <a:latin typeface="Figtree"/>
              </a:rPr>
              <a:t>CS+SG</a:t>
            </a:r>
          </a:p>
        </p:txBody>
      </p:sp>
      <p:sp>
        <p:nvSpPr>
          <p:cNvPr id="86" name="Google Shape;86;p17"/>
          <p:cNvSpPr/>
          <p:nvPr/>
        </p:nvSpPr>
        <p:spPr>
          <a:xfrm>
            <a:off x="-8700" y="5097900"/>
            <a:ext cx="91614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595304" y="1243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8"/>
          <p:cNvSpPr/>
          <p:nvPr/>
        </p:nvSpPr>
        <p:spPr>
          <a:xfrm>
            <a:off x="-8700" y="5097900"/>
            <a:ext cx="91614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384600" y="823629"/>
            <a:ext cx="8374800" cy="39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0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Figtree"/>
              <a:buAutoNum type="arabicPeriod"/>
            </a:pPr>
            <a:r>
              <a:rPr lang="en" sz="35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First React App Setup</a:t>
            </a:r>
            <a:endParaRPr sz="35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450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Figtree"/>
              <a:buAutoNum type="arabicPeriod"/>
            </a:pPr>
            <a:r>
              <a:rPr lang="en" sz="35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File Structures</a:t>
            </a:r>
            <a:endParaRPr sz="35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450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Figtree"/>
              <a:buAutoNum type="arabicPeriod"/>
            </a:pPr>
            <a:r>
              <a:rPr lang="en" sz="35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React Components</a:t>
            </a:r>
            <a:r>
              <a:rPr lang="en" sz="26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endParaRPr sz="26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450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Figtree"/>
              <a:buAutoNum type="arabicPeriod"/>
            </a:pPr>
            <a:r>
              <a:rPr lang="en" sz="35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React Router</a:t>
            </a:r>
            <a:endParaRPr sz="35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250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458500" y="23808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React!</a:t>
            </a:r>
            <a:endParaRPr sz="2800">
              <a:solidFill>
                <a:srgbClr val="ADADAD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458500" y="810800"/>
            <a:ext cx="8520600" cy="12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F0BD"/>
                </a:solidFill>
                <a:latin typeface="Figtree"/>
                <a:ea typeface="Figtree"/>
                <a:cs typeface="Figtree"/>
                <a:sym typeface="Figtree"/>
              </a:rPr>
              <a:t>React </a:t>
            </a:r>
            <a:r>
              <a:rPr lang="en" sz="1800">
                <a:solidFill>
                  <a:srgbClr val="ADADAD"/>
                </a:solidFill>
                <a:latin typeface="Figtree"/>
                <a:ea typeface="Figtree"/>
                <a:cs typeface="Figtree"/>
                <a:sym typeface="Figtree"/>
              </a:rPr>
              <a:t>is a JS library/framework that make it much easier to create functional websites by using </a:t>
            </a:r>
            <a:r>
              <a:rPr lang="en" sz="1800">
                <a:solidFill>
                  <a:srgbClr val="22F0BD"/>
                </a:solidFill>
                <a:latin typeface="Figtree"/>
                <a:ea typeface="Figtree"/>
                <a:cs typeface="Figtree"/>
                <a:sym typeface="Figtree"/>
              </a:rPr>
              <a:t>components</a:t>
            </a:r>
            <a:r>
              <a:rPr lang="en" sz="1800">
                <a:solidFill>
                  <a:srgbClr val="ADADAD"/>
                </a:solidFill>
                <a:latin typeface="Figtree"/>
                <a:ea typeface="Figtree"/>
                <a:cs typeface="Figtree"/>
                <a:sym typeface="Figtree"/>
              </a:rPr>
              <a:t>, which are really just JS functions</a:t>
            </a:r>
            <a:endParaRPr sz="1800">
              <a:solidFill>
                <a:srgbClr val="ADADAD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ADADAD"/>
                </a:solidFill>
                <a:latin typeface="Figtree"/>
                <a:ea typeface="Figtree"/>
                <a:cs typeface="Figtree"/>
                <a:sym typeface="Figtree"/>
              </a:rPr>
              <a:t>React uses </a:t>
            </a:r>
            <a:r>
              <a:rPr lang="en" sz="1800">
                <a:solidFill>
                  <a:srgbClr val="22F0BD"/>
                </a:solidFill>
                <a:latin typeface="Figtree"/>
                <a:ea typeface="Figtree"/>
                <a:cs typeface="Figtree"/>
                <a:sym typeface="Figtree"/>
              </a:rPr>
              <a:t>.jsx</a:t>
            </a:r>
            <a:r>
              <a:rPr lang="en" sz="1800">
                <a:solidFill>
                  <a:srgbClr val="ADADAD"/>
                </a:solidFill>
                <a:latin typeface="Figtree"/>
                <a:ea typeface="Figtree"/>
                <a:cs typeface="Figtree"/>
                <a:sym typeface="Figtree"/>
              </a:rPr>
              <a:t> files, which use a JS function to display HTML by “returning” it</a:t>
            </a:r>
            <a:endParaRPr sz="1800">
              <a:solidFill>
                <a:srgbClr val="ADADAD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02" name="Google Shape;102;p19" title="react-log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4050" y="2592788"/>
            <a:ext cx="3174450" cy="17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458500" y="2063600"/>
            <a:ext cx="48972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F0BD"/>
                </a:solidFill>
                <a:latin typeface="Figtree"/>
                <a:ea typeface="Figtree"/>
                <a:cs typeface="Figtree"/>
                <a:sym typeface="Figtree"/>
              </a:rPr>
              <a:t>Components </a:t>
            </a:r>
            <a:r>
              <a:rPr lang="en" sz="1800">
                <a:solidFill>
                  <a:srgbClr val="ADADAD"/>
                </a:solidFill>
                <a:latin typeface="Figtree"/>
                <a:ea typeface="Figtree"/>
                <a:cs typeface="Figtree"/>
                <a:sym typeface="Figtree"/>
              </a:rPr>
              <a:t>are bits of code that can be reused throughout your website; they can be ‘fed’ different bits of information</a:t>
            </a:r>
            <a:endParaRPr sz="1800">
              <a:solidFill>
                <a:srgbClr val="ADADAD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DADAD"/>
                </a:solidFill>
                <a:latin typeface="Figtree"/>
                <a:ea typeface="Figtree"/>
                <a:cs typeface="Figtree"/>
                <a:sym typeface="Figtree"/>
              </a:rPr>
              <a:t>When to use components?</a:t>
            </a:r>
            <a:endParaRPr sz="1800">
              <a:solidFill>
                <a:srgbClr val="ADADAD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ADADAD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rgbClr val="ADADAD"/>
                </a:solidFill>
                <a:latin typeface="Figtree"/>
                <a:ea typeface="Figtree"/>
                <a:cs typeface="Figtree"/>
                <a:sym typeface="Figtree"/>
              </a:rPr>
              <a:t>Frequently recurring stagnant elements (header, nav, footer)</a:t>
            </a:r>
            <a:endParaRPr sz="1800">
              <a:solidFill>
                <a:srgbClr val="ADADAD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rgbClr val="ADADAD"/>
                </a:solidFill>
                <a:latin typeface="Figtree"/>
                <a:ea typeface="Figtree"/>
                <a:cs typeface="Figtree"/>
                <a:sym typeface="Figtree"/>
              </a:rPr>
              <a:t>Elements that have the same structure but different details </a:t>
            </a:r>
            <a:endParaRPr sz="1800">
              <a:solidFill>
                <a:srgbClr val="ADADAD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595304" y="1243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20"/>
          <p:cNvSpPr/>
          <p:nvPr/>
        </p:nvSpPr>
        <p:spPr>
          <a:xfrm>
            <a:off x="-8700" y="5097900"/>
            <a:ext cx="9161400" cy="45600"/>
          </a:xfrm>
          <a:prstGeom prst="rect">
            <a:avLst/>
          </a:prstGeom>
          <a:gradFill>
            <a:gsLst>
              <a:gs pos="0">
                <a:srgbClr val="2AADBF"/>
              </a:gs>
              <a:gs pos="17000">
                <a:srgbClr val="28CFCE"/>
              </a:gs>
              <a:gs pos="37000">
                <a:srgbClr val="25DFC8"/>
              </a:gs>
              <a:gs pos="58000">
                <a:schemeClr val="accent1"/>
              </a:gs>
              <a:gs pos="81000">
                <a:srgbClr val="28F6A1"/>
              </a:gs>
              <a:gs pos="100000">
                <a:srgbClr val="2FFB8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10" name="Google Shape;110;p20"/>
          <p:cNvSpPr txBox="1"/>
          <p:nvPr>
            <p:ph type="title"/>
          </p:nvPr>
        </p:nvSpPr>
        <p:spPr>
          <a:xfrm>
            <a:off x="458500" y="2380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your first React App Steps 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458500" y="810800"/>
            <a:ext cx="8520600" cy="39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Open your CSSG folder in VSCode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 u="sng">
                <a:solidFill>
                  <a:schemeClr val="hlink"/>
                </a:solidFill>
                <a:latin typeface="Figtree"/>
                <a:ea typeface="Figtree"/>
                <a:cs typeface="Figtree"/>
                <a:sym typeface="Figtree"/>
                <a:hlinkClick r:id="rId3"/>
              </a:rPr>
              <a:t>Download node.js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!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lphaL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Verify installation by running 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node -v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, then 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npm -v</a:t>
            </a:r>
            <a:endParaRPr sz="18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Accept the assignment 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Clone the repository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Navigate to the assignment folder in your terminal with cd 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folder-name</a:t>
            </a:r>
            <a:endParaRPr sz="18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Run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 npm create vite@latest my-react-app -- --template react</a:t>
            </a:r>
            <a:endParaRPr sz="18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Run these commands: 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npm install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, then 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npm i react-router</a:t>
            </a:r>
            <a:endParaRPr sz="18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rabi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For running: 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lphaL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Run 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cd my-react-app</a:t>
            </a:r>
            <a:endParaRPr sz="18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alphaL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Start your dev server with </a:t>
            </a:r>
            <a:r>
              <a:rPr lang="en" sz="18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npm run dev</a:t>
            </a:r>
            <a:endParaRPr sz="18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Figtree"/>
              <a:buAutoNum type="romanLcPeriod"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Click the “local” link —&gt;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36650" y="3837000"/>
            <a:ext cx="2547025" cy="80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775" y="1230313"/>
            <a:ext cx="3743325" cy="276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>
            <p:ph type="title"/>
          </p:nvPr>
        </p:nvSpPr>
        <p:spPr>
          <a:xfrm>
            <a:off x="458525" y="536950"/>
            <a:ext cx="357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Initialization:</a:t>
            </a:r>
            <a:r>
              <a:rPr lang="en"/>
              <a:t> 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5019350" y="162150"/>
            <a:ext cx="4018800" cy="4993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  <a:latin typeface="Figtree"/>
                <a:ea typeface="Figtree"/>
                <a:cs typeface="Figtree"/>
                <a:sym typeface="Figtree"/>
              </a:rPr>
              <a:t>mini-instagram/ </a:t>
            </a:r>
            <a:r>
              <a:rPr lang="en" sz="13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│</a:t>
            </a:r>
            <a:endParaRPr sz="13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 ├── index.html </a:t>
            </a:r>
            <a:endParaRPr sz="13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 ├── style.css </a:t>
            </a:r>
            <a:endParaRPr sz="13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 ├── package.json     </a:t>
            </a:r>
            <a:r>
              <a:rPr lang="en" sz="13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#auto</a:t>
            </a:r>
            <a:endParaRPr sz="13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 ├── vite.config.js      #auto</a:t>
            </a:r>
            <a:endParaRPr sz="13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  <a:latin typeface="Figtree"/>
                <a:ea typeface="Figtree"/>
                <a:cs typeface="Figtree"/>
                <a:sym typeface="Figtree"/>
              </a:rPr>
              <a:t>└── src/ </a:t>
            </a:r>
            <a:endParaRPr sz="1300">
              <a:solidFill>
                <a:schemeClr val="accent3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 ├── App.jsx </a:t>
            </a:r>
            <a:endParaRPr sz="13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 ├── main.jsx </a:t>
            </a:r>
            <a:endParaRPr sz="13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3"/>
                </a:solidFill>
                <a:latin typeface="Figtree"/>
                <a:ea typeface="Figtree"/>
                <a:cs typeface="Figtree"/>
                <a:sym typeface="Figtree"/>
              </a:rPr>
              <a:t>└── components/</a:t>
            </a:r>
            <a:r>
              <a:rPr lang="en" sz="13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 </a:t>
            </a:r>
            <a:endParaRPr sz="13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 ├── Profile.jsx </a:t>
            </a:r>
            <a:endParaRPr sz="13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 ├── Post.jsx </a:t>
            </a:r>
            <a:endParaRPr sz="13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 └── FollowButton.jsx</a:t>
            </a:r>
            <a:endParaRPr sz="13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 └── ……</a:t>
            </a:r>
            <a:endParaRPr sz="1300">
              <a:solidFill>
                <a:schemeClr val="accen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21" name="Google Shape;121;p21"/>
          <p:cNvSpPr txBox="1"/>
          <p:nvPr/>
        </p:nvSpPr>
        <p:spPr>
          <a:xfrm>
            <a:off x="416825" y="4113225"/>
            <a:ext cx="36492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A lot of the files wouldn’t need to be changed. Key parts are </a:t>
            </a:r>
            <a:r>
              <a:rPr lang="en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.html, .css and .jsx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38100" y="898750"/>
            <a:ext cx="8467800" cy="40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>
                <a:solidFill>
                  <a:schemeClr val="accent1"/>
                </a:solidFill>
              </a:rPr>
              <a:t>index.html </a:t>
            </a:r>
            <a:r>
              <a:rPr lang="en" sz="1520"/>
              <a:t>– The main entry HTML file; provides the &lt;div id="root"&gt; where the React app is rendered.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>
                <a:solidFill>
                  <a:schemeClr val="accent1"/>
                </a:solidFill>
              </a:rPr>
              <a:t>style.css</a:t>
            </a:r>
            <a:r>
              <a:rPr lang="en" sz="1520"/>
              <a:t> – Global stylesheet that defines colors, layout, and typography for the entire app.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>
                <a:solidFill>
                  <a:schemeClr val="accent1"/>
                </a:solidFill>
              </a:rPr>
              <a:t>main.jsx</a:t>
            </a:r>
            <a:r>
              <a:rPr lang="en" sz="1520"/>
              <a:t> – React entry point; renders the root &lt;App /&gt; component into index.html.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>
                <a:solidFill>
                  <a:schemeClr val="accent1"/>
                </a:solidFill>
              </a:rPr>
              <a:t>App.jsx</a:t>
            </a:r>
            <a:r>
              <a:rPr lang="en" sz="1520"/>
              <a:t> – Root React component that structures the page and imports other components.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Components you should create:</a:t>
            </a:r>
            <a:endParaRPr sz="15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>
                <a:solidFill>
                  <a:schemeClr val="accent1"/>
                </a:solidFill>
              </a:rPr>
              <a:t>Profile.jsx</a:t>
            </a:r>
            <a:r>
              <a:rPr lang="en" sz="1520"/>
              <a:t> – Displays the user’s profile picture, bio, and list of posts.</a:t>
            </a:r>
            <a:endParaRPr sz="152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>
                <a:solidFill>
                  <a:schemeClr val="accent1"/>
                </a:solidFill>
              </a:rPr>
              <a:t>Post.jsx</a:t>
            </a:r>
            <a:r>
              <a:rPr lang="en" sz="1520"/>
              <a:t> – Represents a single Instagram post with an image and like functionality.</a:t>
            </a:r>
            <a:endParaRPr sz="152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52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>
                <a:solidFill>
                  <a:schemeClr val="accent1"/>
                </a:solidFill>
              </a:rPr>
              <a:t>FollowButton.jsx</a:t>
            </a:r>
            <a:r>
              <a:rPr lang="en" sz="1520"/>
              <a:t> – Interactive button that toggles between “Follow” and “Following” states.</a:t>
            </a:r>
            <a:endParaRPr sz="1520"/>
          </a:p>
        </p:txBody>
      </p:sp>
      <p:sp>
        <p:nvSpPr>
          <p:cNvPr id="128" name="Google Shape;128;p22"/>
          <p:cNvSpPr txBox="1"/>
          <p:nvPr>
            <p:ph type="title"/>
          </p:nvPr>
        </p:nvSpPr>
        <p:spPr>
          <a:xfrm>
            <a:off x="417375" y="239525"/>
            <a:ext cx="683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List of core files:</a:t>
            </a:r>
            <a:endParaRPr sz="232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256650" y="19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index.html</a:t>
            </a:r>
            <a:endParaRPr/>
          </a:p>
        </p:txBody>
      </p:sp>
      <p:sp>
        <p:nvSpPr>
          <p:cNvPr id="134" name="Google Shape;134;p23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6150" y="282283"/>
            <a:ext cx="5831100" cy="1900618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3"/>
          <p:cNvSpPr txBox="1"/>
          <p:nvPr>
            <p:ph type="title"/>
          </p:nvPr>
        </p:nvSpPr>
        <p:spPr>
          <a:xfrm>
            <a:off x="194500" y="888700"/>
            <a:ext cx="268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54396"/>
              <a:buNone/>
            </a:pPr>
            <a:r>
              <a:rPr lang="en" sz="1820"/>
              <a:t>Your old one probably looks something like this:</a:t>
            </a:r>
            <a:endParaRPr sz="1820"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650" y="2491675"/>
            <a:ext cx="8703850" cy="238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2925" y="449175"/>
            <a:ext cx="5481080" cy="4245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4"/>
          <p:cNvSpPr txBox="1"/>
          <p:nvPr>
            <p:ph type="title"/>
          </p:nvPr>
        </p:nvSpPr>
        <p:spPr>
          <a:xfrm>
            <a:off x="256650" y="193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style.css</a:t>
            </a:r>
            <a:endParaRPr/>
          </a:p>
        </p:txBody>
      </p:sp>
      <p:sp>
        <p:nvSpPr>
          <p:cNvPr id="145" name="Google Shape;145;p24"/>
          <p:cNvSpPr txBox="1"/>
          <p:nvPr>
            <p:ph type="title"/>
          </p:nvPr>
        </p:nvSpPr>
        <p:spPr>
          <a:xfrm>
            <a:off x="346125" y="959200"/>
            <a:ext cx="1502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</p:txBody>
      </p:sp>
      <p:sp>
        <p:nvSpPr>
          <p:cNvPr id="146" name="Google Shape;146;p24"/>
          <p:cNvSpPr txBox="1"/>
          <p:nvPr>
            <p:ph type="title"/>
          </p:nvPr>
        </p:nvSpPr>
        <p:spPr>
          <a:xfrm>
            <a:off x="506400" y="1725050"/>
            <a:ext cx="2804700" cy="23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>
                <a:solidFill>
                  <a:schemeClr val="accent1"/>
                </a:solidFill>
              </a:rPr>
              <a:t>.c</a:t>
            </a:r>
            <a:r>
              <a:rPr lang="en" sz="1620">
                <a:solidFill>
                  <a:schemeClr val="accent1"/>
                </a:solidFill>
              </a:rPr>
              <a:t>ss</a:t>
            </a:r>
            <a:r>
              <a:rPr lang="en" sz="1620"/>
              <a:t> works exactly </a:t>
            </a:r>
            <a:r>
              <a:rPr lang="en" sz="1620"/>
              <a:t>the</a:t>
            </a:r>
            <a:r>
              <a:rPr lang="en" sz="1620"/>
              <a:t> same way when applied to React related files</a:t>
            </a:r>
            <a:br>
              <a:rPr lang="en" sz="1620"/>
            </a:br>
            <a:br>
              <a:rPr lang="en" sz="1620"/>
            </a:br>
            <a:r>
              <a:rPr lang="en" sz="1620"/>
              <a:t>Here </a:t>
            </a:r>
            <a:r>
              <a:rPr lang="en" sz="1620">
                <a:solidFill>
                  <a:schemeClr val="accent1"/>
                </a:solidFill>
              </a:rPr>
              <a:t>.profile</a:t>
            </a:r>
            <a:r>
              <a:rPr lang="en" sz="1620"/>
              <a:t> and </a:t>
            </a:r>
            <a:r>
              <a:rPr lang="en" sz="1620">
                <a:solidFill>
                  <a:schemeClr val="accent1"/>
                </a:solidFill>
              </a:rPr>
              <a:t>.post</a:t>
            </a:r>
            <a:r>
              <a:rPr lang="en" sz="1620"/>
              <a:t> refer to components that we will later create, and we get to decide their styles here in global </a:t>
            </a:r>
            <a:r>
              <a:rPr lang="en" sz="1620">
                <a:solidFill>
                  <a:schemeClr val="accent1"/>
                </a:solidFill>
              </a:rPr>
              <a:t>.css</a:t>
            </a:r>
            <a:r>
              <a:rPr lang="en" sz="1620"/>
              <a:t> file.</a:t>
            </a:r>
            <a:endParaRPr sz="162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5"/>
          <p:cNvSpPr txBox="1"/>
          <p:nvPr>
            <p:ph type="title"/>
          </p:nvPr>
        </p:nvSpPr>
        <p:spPr>
          <a:xfrm>
            <a:off x="256650" y="193350"/>
            <a:ext cx="14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ain</a:t>
            </a:r>
            <a:r>
              <a:rPr lang="en"/>
              <a:t>.jsx:</a:t>
            </a:r>
            <a:endParaRPr/>
          </a:p>
        </p:txBody>
      </p:sp>
      <p:sp>
        <p:nvSpPr>
          <p:cNvPr id="153" name="Google Shape;153;p25"/>
          <p:cNvSpPr txBox="1"/>
          <p:nvPr>
            <p:ph type="title"/>
          </p:nvPr>
        </p:nvSpPr>
        <p:spPr>
          <a:xfrm>
            <a:off x="256650" y="819450"/>
            <a:ext cx="2600100" cy="23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/>
              <a:t>You may find </a:t>
            </a:r>
            <a:r>
              <a:rPr lang="en" sz="1620">
                <a:solidFill>
                  <a:schemeClr val="accent1"/>
                </a:solidFill>
              </a:rPr>
              <a:t>main.jsx</a:t>
            </a:r>
            <a:r>
              <a:rPr lang="en" sz="1620"/>
              <a:t> in a different folder when initially created, but you </a:t>
            </a:r>
            <a:r>
              <a:rPr lang="en" sz="1620"/>
              <a:t>only</a:t>
            </a:r>
            <a:r>
              <a:rPr lang="en" sz="1620"/>
              <a:t> need to change the path when using it</a:t>
            </a:r>
            <a:endParaRPr sz="1620"/>
          </a:p>
        </p:txBody>
      </p:sp>
      <p:sp>
        <p:nvSpPr>
          <p:cNvPr id="154" name="Google Shape;154;p25"/>
          <p:cNvSpPr txBox="1"/>
          <p:nvPr/>
        </p:nvSpPr>
        <p:spPr>
          <a:xfrm>
            <a:off x="393225" y="2650450"/>
            <a:ext cx="79668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20">
                <a:solidFill>
                  <a:schemeClr val="accent3"/>
                </a:solidFill>
                <a:latin typeface="Figtree"/>
                <a:ea typeface="Figtree"/>
                <a:cs typeface="Figtree"/>
                <a:sym typeface="Figtree"/>
              </a:rPr>
              <a:t>ReactDOM.createRoot(document.getElementById("root")).render(</a:t>
            </a:r>
            <a:endParaRPr sz="1620">
              <a:solidFill>
                <a:schemeClr val="accent3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2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This line finds the HTML element with the ID </a:t>
            </a:r>
            <a:r>
              <a:rPr lang="en" sz="162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"root"</a:t>
            </a:r>
            <a:r>
              <a:rPr lang="en" sz="162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in index.html, creates a new React root inside it using ReactDOM.createRoot(), and then prepares to render (display) the React application within that element.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55" name="Google Shape;155;p25"/>
          <p:cNvPicPr preferRelativeResize="0"/>
          <p:nvPr/>
        </p:nvPicPr>
        <p:blipFill rotWithShape="1">
          <a:blip r:embed="rId3">
            <a:alphaModFix/>
          </a:blip>
          <a:srcRect b="0" l="0" r="15419" t="0"/>
          <a:stretch/>
        </p:blipFill>
        <p:spPr>
          <a:xfrm>
            <a:off x="2998800" y="475900"/>
            <a:ext cx="6145200" cy="17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248775" y="130450"/>
            <a:ext cx="137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App.jsx</a:t>
            </a:r>
            <a:endParaRPr/>
          </a:p>
        </p:txBody>
      </p:sp>
      <p:sp>
        <p:nvSpPr>
          <p:cNvPr id="161" name="Google Shape;161;p26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0700" y="344350"/>
            <a:ext cx="3952875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8950" y="4033850"/>
            <a:ext cx="4895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6"/>
          <p:cNvSpPr txBox="1"/>
          <p:nvPr>
            <p:ph type="title"/>
          </p:nvPr>
        </p:nvSpPr>
        <p:spPr>
          <a:xfrm>
            <a:off x="1942575" y="2571750"/>
            <a:ext cx="21156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1558"/>
              <a:t>D</a:t>
            </a:r>
            <a:r>
              <a:rPr lang="en" sz="1558"/>
              <a:t>efault Export →</a:t>
            </a:r>
            <a:endParaRPr sz="1558"/>
          </a:p>
        </p:txBody>
      </p:sp>
      <p:sp>
        <p:nvSpPr>
          <p:cNvPr id="165" name="Google Shape;165;p26"/>
          <p:cNvSpPr txBox="1"/>
          <p:nvPr>
            <p:ph type="title"/>
          </p:nvPr>
        </p:nvSpPr>
        <p:spPr>
          <a:xfrm>
            <a:off x="1856025" y="3554600"/>
            <a:ext cx="3083100" cy="8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/>
              <a:t>So we could use default </a:t>
            </a:r>
            <a:r>
              <a:rPr lang="en" sz="1620"/>
              <a:t>import </a:t>
            </a:r>
            <a:r>
              <a:rPr lang="en" sz="1620"/>
              <a:t>in </a:t>
            </a:r>
            <a:r>
              <a:rPr lang="en" sz="1620">
                <a:solidFill>
                  <a:schemeClr val="accent1"/>
                </a:solidFill>
              </a:rPr>
              <a:t>main.jsx</a:t>
            </a:r>
            <a:r>
              <a:rPr lang="en" sz="1620"/>
              <a:t>→</a:t>
            </a:r>
            <a:endParaRPr sz="162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248775" y="130450"/>
            <a:ext cx="184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profile</a:t>
            </a:r>
            <a:r>
              <a:rPr lang="en"/>
              <a:t>.jsx</a:t>
            </a:r>
            <a:endParaRPr/>
          </a:p>
        </p:txBody>
      </p:sp>
      <p:sp>
        <p:nvSpPr>
          <p:cNvPr id="171" name="Google Shape;171;p27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2" name="Google Shape;172;p27"/>
          <p:cNvPicPr preferRelativeResize="0"/>
          <p:nvPr/>
        </p:nvPicPr>
        <p:blipFill rotWithShape="1">
          <a:blip r:embed="rId3">
            <a:alphaModFix/>
          </a:blip>
          <a:srcRect b="62153" l="0" r="0" t="0"/>
          <a:stretch/>
        </p:blipFill>
        <p:spPr>
          <a:xfrm>
            <a:off x="248775" y="1329300"/>
            <a:ext cx="5332426" cy="2484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7"/>
          <p:cNvPicPr preferRelativeResize="0"/>
          <p:nvPr/>
        </p:nvPicPr>
        <p:blipFill rotWithShape="1">
          <a:blip r:embed="rId3">
            <a:alphaModFix/>
          </a:blip>
          <a:srcRect b="0" l="0" r="20032" t="38103"/>
          <a:stretch/>
        </p:blipFill>
        <p:spPr>
          <a:xfrm>
            <a:off x="4764175" y="844850"/>
            <a:ext cx="4379826" cy="417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311700" y="193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Usage of </a:t>
            </a:r>
            <a:r>
              <a:rPr lang="en">
                <a:solidFill>
                  <a:schemeClr val="accent1"/>
                </a:solidFill>
              </a:rPr>
              <a:t>map()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79" name="Google Shape;179;p28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0" name="Google Shape;18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4050" y="3145950"/>
            <a:ext cx="5295900" cy="97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2075" y="1113275"/>
            <a:ext cx="5162550" cy="79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8"/>
          <p:cNvSpPr/>
          <p:nvPr/>
        </p:nvSpPr>
        <p:spPr>
          <a:xfrm>
            <a:off x="4148475" y="1993600"/>
            <a:ext cx="369900" cy="10626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9"/>
          <p:cNvSpPr txBox="1"/>
          <p:nvPr>
            <p:ph type="title"/>
          </p:nvPr>
        </p:nvSpPr>
        <p:spPr>
          <a:xfrm>
            <a:off x="311700" y="319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Arrow </a:t>
            </a:r>
            <a:r>
              <a:rPr lang="en">
                <a:solidFill>
                  <a:schemeClr val="accent1"/>
                </a:solidFill>
              </a:rPr>
              <a:t>Functions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88" name="Google Shape;188;p29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9" name="Google Shape;18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050" y="1289175"/>
            <a:ext cx="4527600" cy="3122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8925" y="1289175"/>
            <a:ext cx="4109225" cy="98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9"/>
          <p:cNvSpPr txBox="1"/>
          <p:nvPr/>
        </p:nvSpPr>
        <p:spPr>
          <a:xfrm>
            <a:off x="4951028" y="2579700"/>
            <a:ext cx="388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Arrow 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functions</a:t>
            </a: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 are a shorter, cleaner syntax for writing functions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</a:t>
            </a:r>
            <a:r>
              <a:rPr lang="en">
                <a:solidFill>
                  <a:schemeClr val="accent1"/>
                </a:solidFill>
              </a:rPr>
              <a:t>Hooks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97" name="Google Shape;197;p30"/>
          <p:cNvSpPr txBox="1"/>
          <p:nvPr>
            <p:ph idx="1" type="body"/>
          </p:nvPr>
        </p:nvSpPr>
        <p:spPr>
          <a:xfrm>
            <a:off x="226075" y="1152475"/>
            <a:ext cx="3999900" cy="3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Hooks allow us to manage the state and behavior of our components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State </a:t>
            </a:r>
            <a:r>
              <a:rPr lang="en"/>
              <a:t>is the current data or condition of your component</a:t>
            </a:r>
            <a:endParaRPr sz="1500"/>
          </a:p>
          <a:p>
            <a:pPr indent="-316706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100000"/>
              <a:buAutoNum type="arabicPeriod"/>
            </a:pPr>
            <a:r>
              <a:rPr lang="en" sz="1500">
                <a:solidFill>
                  <a:schemeClr val="accent1"/>
                </a:solidFill>
              </a:rPr>
              <a:t>useState()</a:t>
            </a:r>
            <a:endParaRPr sz="1500">
              <a:solidFill>
                <a:schemeClr val="accent1"/>
              </a:solidFill>
            </a:endParaRPr>
          </a:p>
          <a:p>
            <a:pPr indent="-31670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 sz="1500"/>
              <a:t>Manage internal component data</a:t>
            </a:r>
            <a:endParaRPr sz="1500"/>
          </a:p>
          <a:p>
            <a:pPr indent="-31670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 sz="1500"/>
              <a:t>Rerenders the </a:t>
            </a:r>
            <a:r>
              <a:rPr lang="en" sz="1500"/>
              <a:t>application</a:t>
            </a:r>
            <a:endParaRPr sz="1500"/>
          </a:p>
          <a:p>
            <a:pPr indent="-31670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" sz="1500">
                <a:solidFill>
                  <a:schemeClr val="accent1"/>
                </a:solidFill>
              </a:rPr>
              <a:t>useEffect(f</a:t>
            </a:r>
            <a:r>
              <a:rPr lang="en" sz="1500">
                <a:solidFill>
                  <a:schemeClr val="accent1"/>
                </a:solidFill>
              </a:rPr>
              <a:t>n,dependencies</a:t>
            </a:r>
            <a:r>
              <a:rPr lang="en" sz="1500">
                <a:solidFill>
                  <a:schemeClr val="accent1"/>
                </a:solidFill>
              </a:rPr>
              <a:t>)</a:t>
            </a:r>
            <a:endParaRPr sz="1500">
              <a:solidFill>
                <a:schemeClr val="accent1"/>
              </a:solidFill>
            </a:endParaRPr>
          </a:p>
          <a:p>
            <a:pPr indent="-31670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 sz="1500"/>
              <a:t>Handle side effects after we render the component</a:t>
            </a:r>
            <a:endParaRPr sz="1500"/>
          </a:p>
          <a:p>
            <a:pPr indent="-31670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 sz="1500"/>
              <a:t>useEffect(fn, [x, y]) =&gt; runs only when x and y change</a:t>
            </a:r>
            <a:endParaRPr sz="1500"/>
          </a:p>
          <a:p>
            <a:pPr indent="-31670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 sz="1500"/>
              <a:t>useEffect(fn) =&gt; runs after every render</a:t>
            </a:r>
            <a:endParaRPr sz="1500"/>
          </a:p>
          <a:p>
            <a:pPr indent="-316706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lphaLcPeriod"/>
            </a:pPr>
            <a:r>
              <a:rPr lang="en" sz="1500"/>
              <a:t>useEffect(fn,[]) =&gt; runs once after initializing it</a:t>
            </a:r>
            <a:endParaRPr sz="1500"/>
          </a:p>
        </p:txBody>
      </p:sp>
      <p:sp>
        <p:nvSpPr>
          <p:cNvPr id="198" name="Google Shape;198;p30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9" name="Google Shape;19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8375" y="1170125"/>
            <a:ext cx="4613226" cy="3013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title"/>
          </p:nvPr>
        </p:nvSpPr>
        <p:spPr>
          <a:xfrm>
            <a:off x="343175" y="150325"/>
            <a:ext cx="795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Post.jsx       </a:t>
            </a:r>
            <a:r>
              <a:rPr lang="en" sz="2467">
                <a:solidFill>
                  <a:schemeClr val="accent1"/>
                </a:solidFill>
              </a:rPr>
              <a:t>React Hook</a:t>
            </a:r>
            <a:r>
              <a:rPr lang="en" sz="2467"/>
              <a:t> and </a:t>
            </a:r>
            <a:r>
              <a:rPr lang="en" sz="2467">
                <a:solidFill>
                  <a:schemeClr val="accent1"/>
                </a:solidFill>
              </a:rPr>
              <a:t>Arrow Function</a:t>
            </a:r>
            <a:endParaRPr sz="2467">
              <a:solidFill>
                <a:schemeClr val="accent1"/>
              </a:solidFill>
            </a:endParaRPr>
          </a:p>
        </p:txBody>
      </p:sp>
      <p:sp>
        <p:nvSpPr>
          <p:cNvPr id="205" name="Google Shape;205;p31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6" name="Google Shape;2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4663" y="940350"/>
            <a:ext cx="4714875" cy="3524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1"/>
          <p:cNvSpPr txBox="1"/>
          <p:nvPr>
            <p:ph type="title"/>
          </p:nvPr>
        </p:nvSpPr>
        <p:spPr>
          <a:xfrm>
            <a:off x="303825" y="940350"/>
            <a:ext cx="363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>
                <a:solidFill>
                  <a:schemeClr val="lt2"/>
                </a:solidFill>
              </a:rPr>
              <a:t>Example flow：</a:t>
            </a:r>
            <a:endParaRPr sz="152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32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20">
                <a:solidFill>
                  <a:schemeClr val="lt2"/>
                </a:solidFill>
              </a:rPr>
              <a:t>Component starts: </a:t>
            </a:r>
            <a:r>
              <a:rPr lang="en" sz="1320">
                <a:solidFill>
                  <a:schemeClr val="accent1"/>
                </a:solidFill>
              </a:rPr>
              <a:t>likeCount</a:t>
            </a:r>
            <a:r>
              <a:rPr lang="en" sz="1320"/>
              <a:t> </a:t>
            </a:r>
            <a:r>
              <a:rPr lang="en" sz="1320">
                <a:solidFill>
                  <a:schemeClr val="lt2"/>
                </a:solidFill>
              </a:rPr>
              <a:t>= likes (for example, 42).</a:t>
            </a:r>
            <a:endParaRPr sz="132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32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20">
                <a:solidFill>
                  <a:schemeClr val="lt2"/>
                </a:solidFill>
              </a:rPr>
              <a:t>User clicks the button → triggers </a:t>
            </a:r>
            <a:r>
              <a:rPr lang="en" sz="1320">
                <a:solidFill>
                  <a:schemeClr val="accent1"/>
                </a:solidFill>
              </a:rPr>
              <a:t>setLikeCount</a:t>
            </a:r>
            <a:r>
              <a:rPr lang="en" sz="1320"/>
              <a:t>(</a:t>
            </a:r>
            <a:r>
              <a:rPr lang="en" sz="1320">
                <a:solidFill>
                  <a:schemeClr val="accent1"/>
                </a:solidFill>
              </a:rPr>
              <a:t>likeCount</a:t>
            </a:r>
            <a:r>
              <a:rPr lang="en" sz="1320"/>
              <a:t> + 1).</a:t>
            </a:r>
            <a:endParaRPr sz="1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3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20">
                <a:solidFill>
                  <a:schemeClr val="lt2"/>
                </a:solidFill>
              </a:rPr>
              <a:t>React updates</a:t>
            </a:r>
            <a:r>
              <a:rPr lang="en" sz="1320"/>
              <a:t> </a:t>
            </a:r>
            <a:r>
              <a:rPr lang="en" sz="1320">
                <a:solidFill>
                  <a:schemeClr val="accent1"/>
                </a:solidFill>
              </a:rPr>
              <a:t>likeCount</a:t>
            </a:r>
            <a:r>
              <a:rPr lang="en" sz="1320"/>
              <a:t> </a:t>
            </a:r>
            <a:r>
              <a:rPr lang="en" sz="1320">
                <a:solidFill>
                  <a:schemeClr val="lt2"/>
                </a:solidFill>
              </a:rPr>
              <a:t>to the new value and re-renders the text {</a:t>
            </a:r>
            <a:r>
              <a:rPr lang="en" sz="1320">
                <a:solidFill>
                  <a:schemeClr val="accent1"/>
                </a:solidFill>
              </a:rPr>
              <a:t>likeCount</a:t>
            </a:r>
            <a:r>
              <a:rPr lang="en" sz="1320">
                <a:solidFill>
                  <a:schemeClr val="lt2"/>
                </a:solidFill>
              </a:rPr>
              <a:t>}.</a:t>
            </a:r>
            <a:endParaRPr sz="132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32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320">
                <a:solidFill>
                  <a:schemeClr val="lt2"/>
                </a:solidFill>
              </a:rPr>
              <a:t>In short: useState allows a React component to remember a value and update it when something happens (like a button click).</a:t>
            </a:r>
            <a:endParaRPr sz="132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2"/>
          <p:cNvSpPr txBox="1"/>
          <p:nvPr>
            <p:ph type="title"/>
          </p:nvPr>
        </p:nvSpPr>
        <p:spPr>
          <a:xfrm>
            <a:off x="295975" y="140850"/>
            <a:ext cx="319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FollowButton.jsx</a:t>
            </a:r>
            <a:endParaRPr/>
          </a:p>
        </p:txBody>
      </p:sp>
      <p:sp>
        <p:nvSpPr>
          <p:cNvPr id="213" name="Google Shape;213;p32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4" name="Google Shape;21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2850" y="847375"/>
            <a:ext cx="4839902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2"/>
          <p:cNvSpPr txBox="1"/>
          <p:nvPr>
            <p:ph type="title"/>
          </p:nvPr>
        </p:nvSpPr>
        <p:spPr>
          <a:xfrm>
            <a:off x="3376700" y="140850"/>
            <a:ext cx="3191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>
                <a:solidFill>
                  <a:schemeClr val="accent1"/>
                </a:solidFill>
              </a:rPr>
              <a:t>Ternary Operator</a:t>
            </a:r>
            <a:endParaRPr sz="2220">
              <a:solidFill>
                <a:schemeClr val="accent1"/>
              </a:solidFill>
            </a:endParaRPr>
          </a:p>
        </p:txBody>
      </p:sp>
      <p:sp>
        <p:nvSpPr>
          <p:cNvPr id="216" name="Google Shape;216;p32"/>
          <p:cNvSpPr txBox="1"/>
          <p:nvPr/>
        </p:nvSpPr>
        <p:spPr>
          <a:xfrm>
            <a:off x="412150" y="1205900"/>
            <a:ext cx="3432900" cy="15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General Format…</a:t>
            </a:r>
            <a:endParaRPr sz="18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25DFC8"/>
                </a:solidFill>
                <a:latin typeface="Figtree"/>
                <a:ea typeface="Figtree"/>
                <a:cs typeface="Figtree"/>
                <a:sym typeface="Figtree"/>
              </a:rPr>
              <a:t>condition</a:t>
            </a:r>
            <a:r>
              <a:rPr lang="en" sz="1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? </a:t>
            </a:r>
            <a:r>
              <a:rPr lang="en" sz="1800">
                <a:solidFill>
                  <a:srgbClr val="2FFB84"/>
                </a:solidFill>
                <a:latin typeface="Figtree"/>
                <a:ea typeface="Figtree"/>
                <a:cs typeface="Figtree"/>
                <a:sym typeface="Figtree"/>
              </a:rPr>
              <a:t>expressionIfTrue</a:t>
            </a:r>
            <a:r>
              <a:rPr lang="en" sz="1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: </a:t>
            </a:r>
            <a:r>
              <a:rPr lang="en" sz="1800">
                <a:solidFill>
                  <a:schemeClr val="accent2"/>
                </a:solidFill>
                <a:latin typeface="Figtree"/>
                <a:ea typeface="Figtree"/>
                <a:cs typeface="Figtree"/>
                <a:sym typeface="Figtree"/>
              </a:rPr>
              <a:t>expressionIfFalse</a:t>
            </a:r>
            <a:r>
              <a:rPr lang="en" sz="18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;</a:t>
            </a:r>
            <a:endParaRPr sz="18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17" name="Google Shape;217;p32"/>
          <p:cNvSpPr txBox="1"/>
          <p:nvPr/>
        </p:nvSpPr>
        <p:spPr>
          <a:xfrm>
            <a:off x="295975" y="2950600"/>
            <a:ext cx="3432900" cy="14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“If </a:t>
            </a:r>
            <a:r>
              <a:rPr lang="en" sz="16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isFollowing</a:t>
            </a:r>
            <a:r>
              <a:rPr lang="en" sz="1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is true, show ‘</a:t>
            </a:r>
            <a:r>
              <a:rPr lang="en" sz="16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Following</a:t>
            </a:r>
            <a:r>
              <a:rPr lang="en" sz="1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’, otherwise show ‘</a:t>
            </a:r>
            <a:r>
              <a:rPr lang="en" sz="1600">
                <a:solidFill>
                  <a:schemeClr val="accent1"/>
                </a:solidFill>
                <a:latin typeface="Figtree"/>
                <a:ea typeface="Figtree"/>
                <a:cs typeface="Figtree"/>
                <a:sym typeface="Figtree"/>
              </a:rPr>
              <a:t>Follow’</a:t>
            </a:r>
            <a:r>
              <a:rPr lang="en" sz="160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”</a:t>
            </a:r>
            <a:endParaRPr sz="160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Example</a:t>
            </a:r>
            <a:r>
              <a:rPr lang="en" sz="1600">
                <a:solidFill>
                  <a:schemeClr val="lt2"/>
                </a:solidFill>
                <a:latin typeface="Figtree"/>
                <a:ea typeface="Figtree"/>
                <a:cs typeface="Figtree"/>
                <a:sym typeface="Figtree"/>
              </a:rPr>
              <a:t> of this in first js lesson</a:t>
            </a:r>
            <a:endParaRPr sz="1600">
              <a:solidFill>
                <a:schemeClr val="lt2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/>
        </p:nvSpPr>
        <p:spPr>
          <a:xfrm>
            <a:off x="458500" y="23808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Figtree"/>
                <a:ea typeface="Figtree"/>
                <a:cs typeface="Figtree"/>
                <a:sym typeface="Figtree"/>
              </a:rPr>
              <a:t>React Routing</a:t>
            </a:r>
            <a:endParaRPr sz="2800">
              <a:solidFill>
                <a:srgbClr val="ADADAD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3" name="Google Shape;223;p33"/>
          <p:cNvSpPr txBox="1"/>
          <p:nvPr/>
        </p:nvSpPr>
        <p:spPr>
          <a:xfrm>
            <a:off x="4335600" y="810800"/>
            <a:ext cx="4643400" cy="28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22F0BD"/>
                </a:solidFill>
                <a:latin typeface="Figtree"/>
                <a:ea typeface="Figtree"/>
                <a:cs typeface="Figtree"/>
                <a:sym typeface="Figtree"/>
              </a:rPr>
              <a:t>Routing </a:t>
            </a:r>
            <a:r>
              <a:rPr lang="en" sz="1800">
                <a:solidFill>
                  <a:srgbClr val="ADADAD"/>
                </a:solidFill>
                <a:latin typeface="Figtree"/>
                <a:ea typeface="Figtree"/>
                <a:cs typeface="Figtree"/>
                <a:sym typeface="Figtree"/>
              </a:rPr>
              <a:t>allows you to navigate between different pages without reloading your browser; goes in your App.jsx file!</a:t>
            </a:r>
            <a:endParaRPr sz="1800">
              <a:solidFill>
                <a:srgbClr val="ADADAD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ADADAD"/>
              </a:buClr>
              <a:buSzPts val="1800"/>
              <a:buFont typeface="Figtree"/>
              <a:buChar char="●"/>
            </a:pPr>
            <a:r>
              <a:rPr lang="en" sz="1800">
                <a:solidFill>
                  <a:srgbClr val="22F0BD"/>
                </a:solidFill>
                <a:latin typeface="Figtree"/>
                <a:ea typeface="Figtree"/>
                <a:cs typeface="Figtree"/>
                <a:sym typeface="Figtree"/>
              </a:rPr>
              <a:t>BrowserRouter </a:t>
            </a:r>
            <a:r>
              <a:rPr lang="en" sz="1800">
                <a:solidFill>
                  <a:srgbClr val="ADADAD"/>
                </a:solidFill>
                <a:latin typeface="Figtree"/>
                <a:ea typeface="Figtree"/>
                <a:cs typeface="Figtree"/>
                <a:sym typeface="Figtree"/>
              </a:rPr>
              <a:t>“wraps” your app</a:t>
            </a:r>
            <a:endParaRPr sz="1800">
              <a:solidFill>
                <a:srgbClr val="ADADAD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800"/>
              <a:buFont typeface="Figtree"/>
              <a:buChar char="●"/>
            </a:pPr>
            <a:r>
              <a:rPr lang="en" sz="1800">
                <a:solidFill>
                  <a:srgbClr val="22F0BD"/>
                </a:solidFill>
                <a:latin typeface="Figtree"/>
                <a:ea typeface="Figtree"/>
                <a:cs typeface="Figtree"/>
                <a:sym typeface="Figtree"/>
              </a:rPr>
              <a:t>Routes </a:t>
            </a:r>
            <a:r>
              <a:rPr lang="en" sz="1800">
                <a:solidFill>
                  <a:srgbClr val="ADADAD"/>
                </a:solidFill>
                <a:latin typeface="Figtree"/>
                <a:ea typeface="Figtree"/>
                <a:cs typeface="Figtree"/>
                <a:sym typeface="Figtree"/>
              </a:rPr>
              <a:t>is a container for your routes</a:t>
            </a:r>
            <a:endParaRPr sz="1800">
              <a:solidFill>
                <a:srgbClr val="ADADAD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800"/>
              <a:buFont typeface="Figtree"/>
              <a:buChar char="●"/>
            </a:pPr>
            <a:r>
              <a:rPr lang="en" sz="1800">
                <a:solidFill>
                  <a:srgbClr val="22F0BD"/>
                </a:solidFill>
                <a:latin typeface="Figtree"/>
                <a:ea typeface="Figtree"/>
                <a:cs typeface="Figtree"/>
                <a:sym typeface="Figtree"/>
              </a:rPr>
              <a:t>Route </a:t>
            </a:r>
            <a:r>
              <a:rPr lang="en" sz="1800">
                <a:solidFill>
                  <a:srgbClr val="ADADAD"/>
                </a:solidFill>
                <a:latin typeface="Figtree"/>
                <a:ea typeface="Figtree"/>
                <a:cs typeface="Figtree"/>
                <a:sym typeface="Figtree"/>
              </a:rPr>
              <a:t>defines each path</a:t>
            </a:r>
            <a:endParaRPr sz="1800">
              <a:solidFill>
                <a:srgbClr val="ADADAD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DADAD"/>
              </a:buClr>
              <a:buSzPts val="1800"/>
              <a:buFont typeface="Figtree"/>
              <a:buChar char="○"/>
            </a:pPr>
            <a:r>
              <a:rPr lang="en" sz="1800">
                <a:solidFill>
                  <a:srgbClr val="ADADAD"/>
                </a:solidFill>
                <a:latin typeface="Figtree"/>
                <a:ea typeface="Figtree"/>
                <a:cs typeface="Figtree"/>
                <a:sym typeface="Figtree"/>
              </a:rPr>
              <a:t>First route is where you want your users to enter first</a:t>
            </a:r>
            <a:endParaRPr sz="1800">
              <a:solidFill>
                <a:srgbClr val="ADADAD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224" name="Google Shape;224;p33"/>
          <p:cNvSpPr txBox="1"/>
          <p:nvPr/>
        </p:nvSpPr>
        <p:spPr>
          <a:xfrm>
            <a:off x="458500" y="939750"/>
            <a:ext cx="3877200" cy="37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import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{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BrowserRouter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,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Routes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,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Route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} </a:t>
            </a: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from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CE9178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"react-router-dom"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</a:t>
            </a: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import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Home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from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CE9178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"./pages/Home"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</a:t>
            </a: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import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Profile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from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CE9178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"./pages/Profile"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</a:t>
            </a:r>
            <a:r>
              <a:rPr lang="en" sz="1150">
                <a:solidFill>
                  <a:srgbClr val="569CD6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function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DCDCAA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App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() {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</a:t>
            </a:r>
            <a:r>
              <a:rPr lang="en" sz="1150">
                <a:solidFill>
                  <a:srgbClr val="C586C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return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(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 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</a:t>
            </a:r>
            <a:r>
              <a:rPr lang="en" sz="1150">
                <a:solidFill>
                  <a:srgbClr val="4EC9B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BrowserRouter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&gt;</a:t>
            </a:r>
            <a:endParaRPr sz="1150">
              <a:solidFill>
                <a:srgbClr val="808080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   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</a:t>
            </a:r>
            <a:r>
              <a:rPr lang="en" sz="1150">
                <a:solidFill>
                  <a:srgbClr val="4EC9B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Routes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&gt;</a:t>
            </a:r>
            <a:endParaRPr sz="1150">
              <a:solidFill>
                <a:srgbClr val="808080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     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</a:t>
            </a:r>
            <a:r>
              <a:rPr lang="en" sz="1150">
                <a:solidFill>
                  <a:srgbClr val="4EC9B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Route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path</a:t>
            </a:r>
            <a:r>
              <a:rPr lang="en" sz="1150">
                <a:solidFill>
                  <a:srgbClr val="D4D4D4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=</a:t>
            </a:r>
            <a:r>
              <a:rPr lang="en" sz="1150">
                <a:solidFill>
                  <a:srgbClr val="CE9178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"/"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element</a:t>
            </a:r>
            <a:r>
              <a:rPr lang="en" sz="1150">
                <a:solidFill>
                  <a:srgbClr val="D4D4D4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=</a:t>
            </a:r>
            <a:r>
              <a:rPr lang="en" sz="1150">
                <a:solidFill>
                  <a:srgbClr val="569CD6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{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</a:t>
            </a:r>
            <a:r>
              <a:rPr lang="en" sz="1150">
                <a:solidFill>
                  <a:srgbClr val="4EC9B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Home</a:t>
            </a:r>
            <a:r>
              <a:rPr lang="en" sz="1150">
                <a:solidFill>
                  <a:srgbClr val="D4D4D4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/&gt;</a:t>
            </a:r>
            <a:r>
              <a:rPr lang="en" sz="1150">
                <a:solidFill>
                  <a:srgbClr val="569CD6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}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/&gt;</a:t>
            </a:r>
            <a:endParaRPr sz="1150">
              <a:solidFill>
                <a:srgbClr val="808080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     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</a:t>
            </a:r>
            <a:r>
              <a:rPr lang="en" sz="1150">
                <a:solidFill>
                  <a:srgbClr val="4EC9B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Route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path</a:t>
            </a:r>
            <a:r>
              <a:rPr lang="en" sz="1150">
                <a:solidFill>
                  <a:srgbClr val="D4D4D4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=</a:t>
            </a:r>
            <a:r>
              <a:rPr lang="en" sz="1150">
                <a:solidFill>
                  <a:srgbClr val="CE9178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"/profile"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9CDCFE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element</a:t>
            </a:r>
            <a:r>
              <a:rPr lang="en" sz="1150">
                <a:solidFill>
                  <a:srgbClr val="D4D4D4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=</a:t>
            </a:r>
            <a:r>
              <a:rPr lang="en" sz="1150">
                <a:solidFill>
                  <a:srgbClr val="569CD6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{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</a:t>
            </a:r>
            <a:r>
              <a:rPr lang="en" sz="1150">
                <a:solidFill>
                  <a:srgbClr val="4EC9B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Profile</a:t>
            </a:r>
            <a:r>
              <a:rPr lang="en" sz="1150">
                <a:solidFill>
                  <a:srgbClr val="D4D4D4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/&gt;</a:t>
            </a:r>
            <a:r>
              <a:rPr lang="en" sz="1150">
                <a:solidFill>
                  <a:srgbClr val="569CD6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}</a:t>
            </a: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/&gt;</a:t>
            </a:r>
            <a:endParaRPr sz="1150">
              <a:solidFill>
                <a:srgbClr val="808080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   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&lt;/</a:t>
            </a:r>
            <a:r>
              <a:rPr lang="en" sz="1150">
                <a:solidFill>
                  <a:srgbClr val="4EC9B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Routes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&gt;</a:t>
            </a:r>
            <a:endParaRPr sz="1150">
              <a:solidFill>
                <a:srgbClr val="808080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  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&lt;/</a:t>
            </a:r>
            <a:r>
              <a:rPr lang="en" sz="1150">
                <a:solidFill>
                  <a:srgbClr val="4EC9B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BrowserRouter</a:t>
            </a:r>
            <a:r>
              <a:rPr lang="en" sz="1150">
                <a:solidFill>
                  <a:srgbClr val="808080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&gt;</a:t>
            </a:r>
            <a:endParaRPr sz="1150">
              <a:solidFill>
                <a:srgbClr val="808080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  );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CCCCCC"/>
                </a:solidFill>
                <a:highlight>
                  <a:srgbClr val="1F1F1F"/>
                </a:highlight>
                <a:latin typeface="Figtree"/>
                <a:ea typeface="Figtree"/>
                <a:cs typeface="Figtree"/>
                <a:sym typeface="Figtree"/>
              </a:rPr>
              <a:t>  }</a:t>
            </a:r>
            <a:endParaRPr sz="1150">
              <a:solidFill>
                <a:srgbClr val="CCCCCC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C586C0"/>
              </a:solidFill>
              <a:highlight>
                <a:srgbClr val="1F1F1F"/>
              </a:highlight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Instagram </a:t>
            </a:r>
            <a:r>
              <a:rPr lang="en">
                <a:solidFill>
                  <a:schemeClr val="accent1"/>
                </a:solidFill>
              </a:rPr>
              <a:t>Routing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30" name="Google Shape;230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We define the routes we want within the app component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Then we wrap this app with the browser router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en" sz="1500"/>
              <a:t>To access our routes we can use the </a:t>
            </a:r>
            <a:r>
              <a:rPr lang="en" sz="1500">
                <a:solidFill>
                  <a:srgbClr val="22F0BD"/>
                </a:solidFill>
              </a:rPr>
              <a:t>&lt;Link&gt; </a:t>
            </a:r>
            <a:r>
              <a:rPr lang="en" sz="1500"/>
              <a:t>component, which lets us move around our app without reloading the page </a:t>
            </a:r>
            <a:endParaRPr sz="15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n" sz="1300"/>
              <a:t>Similar to a anchor tag 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AutoNum type="alphaLcPeriod"/>
            </a:pPr>
            <a:r>
              <a:rPr lang="en" sz="1300"/>
              <a:t>Leverage the routes we created so that we can jump around the page </a:t>
            </a:r>
            <a:endParaRPr sz="1300"/>
          </a:p>
        </p:txBody>
      </p:sp>
      <p:sp>
        <p:nvSpPr>
          <p:cNvPr id="231" name="Google Shape;231;p34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2" name="Google Shape;232;p34"/>
          <p:cNvPicPr preferRelativeResize="0"/>
          <p:nvPr/>
        </p:nvPicPr>
        <p:blipFill rotWithShape="1">
          <a:blip r:embed="rId3">
            <a:alphaModFix/>
          </a:blip>
          <a:srcRect b="0" l="0" r="9861" t="0"/>
          <a:stretch/>
        </p:blipFill>
        <p:spPr>
          <a:xfrm>
            <a:off x="4311600" y="939776"/>
            <a:ext cx="4693583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4"/>
          <p:cNvPicPr preferRelativeResize="0"/>
          <p:nvPr/>
        </p:nvPicPr>
        <p:blipFill rotWithShape="1">
          <a:blip r:embed="rId4">
            <a:alphaModFix/>
          </a:blip>
          <a:srcRect b="36981" l="0" r="0" t="44752"/>
          <a:stretch/>
        </p:blipFill>
        <p:spPr>
          <a:xfrm>
            <a:off x="310213" y="4160750"/>
            <a:ext cx="4002866" cy="572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>
            <p:ph type="title"/>
          </p:nvPr>
        </p:nvSpPr>
        <p:spPr>
          <a:xfrm>
            <a:off x="400400" y="722875"/>
            <a:ext cx="6367800" cy="70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820"/>
              <a:t>Thank you!!!</a:t>
            </a:r>
            <a:endParaRPr sz="3820"/>
          </a:p>
        </p:txBody>
      </p:sp>
      <p:sp>
        <p:nvSpPr>
          <p:cNvPr id="239" name="Google Shape;239;p35"/>
          <p:cNvSpPr txBox="1"/>
          <p:nvPr>
            <p:ph idx="1" type="subTitle"/>
          </p:nvPr>
        </p:nvSpPr>
        <p:spPr>
          <a:xfrm>
            <a:off x="400400" y="1611500"/>
            <a:ext cx="1524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Attendance:</a:t>
            </a:r>
            <a:endParaRPr/>
          </a:p>
        </p:txBody>
      </p:sp>
      <p:pic>
        <p:nvPicPr>
          <p:cNvPr id="240" name="Google Shape;24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000" y="1057275"/>
            <a:ext cx="257175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5"/>
          <p:cNvSpPr txBox="1"/>
          <p:nvPr>
            <p:ph idx="12" type="sldNum"/>
          </p:nvPr>
        </p:nvSpPr>
        <p:spPr>
          <a:xfrm>
            <a:off x="8489454" y="8229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2" name="Google Shape;24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1600" y="2184825"/>
            <a:ext cx="257175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22F0BD"/>
      </a:accent1>
      <a:accent2>
        <a:srgbClr val="FE654F"/>
      </a:accent2>
      <a:accent3>
        <a:srgbClr val="FFB910"/>
      </a:accent3>
      <a:accent4>
        <a:srgbClr val="98DC69"/>
      </a:accent4>
      <a:accent5>
        <a:srgbClr val="C495F0"/>
      </a:accent5>
      <a:accent6>
        <a:srgbClr val="FFB0F0"/>
      </a:accent6>
      <a:hlink>
        <a:srgbClr val="6FC5FF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