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Figtree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Figtree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Figtree-bold.fntdata"/><Relationship Id="rId18" Type="http://schemas.openxmlformats.org/officeDocument/2006/relationships/font" Target="fonts/Figtre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b9da0ab0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b9da0ab0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44dd98b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44dd98b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ff090a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ff090a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5ff090a2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5ff090a2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5ff090a2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5ff090a2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5ff090a2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5ff090a2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5ff090a2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5ff090a2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ff090a2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5ff090a2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5ff090a2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5ff090a2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5ff090a2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5ff090a2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5ff090a2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5ff090a2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8700" y="4191000"/>
            <a:ext cx="1099500" cy="952500"/>
          </a:xfrm>
          <a:prstGeom prst="parallelogram">
            <a:avLst>
              <a:gd fmla="val 67478" name="adj"/>
            </a:avLst>
          </a:prstGeom>
          <a:solidFill>
            <a:srgbClr val="28C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" name="Google Shape;15;p2"/>
          <p:cNvSpPr/>
          <p:nvPr/>
        </p:nvSpPr>
        <p:spPr>
          <a:xfrm flipH="1">
            <a:off x="637975" y="4191000"/>
            <a:ext cx="1526100" cy="952500"/>
          </a:xfrm>
          <a:prstGeom prst="parallelogram">
            <a:avLst>
              <a:gd fmla="val 112000" name="adj"/>
            </a:avLst>
          </a:prstGeom>
          <a:solidFill>
            <a:srgbClr val="25D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" name="Google Shape;16;p2"/>
          <p:cNvSpPr/>
          <p:nvPr/>
        </p:nvSpPr>
        <p:spPr>
          <a:xfrm rot="-5400000">
            <a:off x="8117988" y="308563"/>
            <a:ext cx="1099500" cy="952500"/>
          </a:xfrm>
          <a:prstGeom prst="parallelogram">
            <a:avLst>
              <a:gd fmla="val 67478" name="adj"/>
            </a:avLst>
          </a:prstGeom>
          <a:solidFill>
            <a:srgbClr val="2FFB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" name="Google Shape;17;p2"/>
          <p:cNvSpPr/>
          <p:nvPr/>
        </p:nvSpPr>
        <p:spPr>
          <a:xfrm flipH="1" rot="-5400000">
            <a:off x="7904688" y="-551412"/>
            <a:ext cx="1526100" cy="952500"/>
          </a:xfrm>
          <a:prstGeom prst="parallelogram">
            <a:avLst>
              <a:gd fmla="val 112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of code">
  <p:cSld name="TITLE_AND_TWO_COLUMNS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11700" y="0"/>
            <a:ext cx="3999900" cy="51435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832400" y="0"/>
            <a:ext cx="3999900" cy="51435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"/>
          <p:cNvSpPr txBox="1"/>
          <p:nvPr>
            <p:ph idx="3" type="subTitle"/>
          </p:nvPr>
        </p:nvSpPr>
        <p:spPr>
          <a:xfrm rot="-5400000">
            <a:off x="-2337450" y="2382025"/>
            <a:ext cx="5107500" cy="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4" type="subTitle"/>
          </p:nvPr>
        </p:nvSpPr>
        <p:spPr>
          <a:xfrm rot="-5400000">
            <a:off x="2183250" y="2382025"/>
            <a:ext cx="5107500" cy="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and half code (right)">
  <p:cSld name="TITLE_AND_TWO_COLUMNS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and half code (left)">
  <p:cSld name="TITLE_AND_TWO_COLUMNS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832400" y="1152144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pirational Quote">
  <p:cSld name="MAIN_POINT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90250" y="450150"/>
            <a:ext cx="6367800" cy="272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1"/>
          <p:cNvSpPr txBox="1"/>
          <p:nvPr>
            <p:ph idx="1" type="subTitle"/>
          </p:nvPr>
        </p:nvSpPr>
        <p:spPr>
          <a:xfrm>
            <a:off x="490250" y="3175050"/>
            <a:ext cx="63678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/>
          <p:nvPr/>
        </p:nvSpPr>
        <p:spPr>
          <a:xfrm rot="5400000">
            <a:off x="-2549250" y="2548950"/>
            <a:ext cx="51441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3"/>
          <p:cNvSpPr/>
          <p:nvPr>
            <p:ph idx="2" type="pic"/>
          </p:nvPr>
        </p:nvSpPr>
        <p:spPr>
          <a:xfrm>
            <a:off x="311700" y="307825"/>
            <a:ext cx="8520600" cy="3922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3"/>
          <p:cNvSpPr/>
          <p:nvPr/>
        </p:nvSpPr>
        <p:spPr>
          <a:xfrm rot="5400000">
            <a:off x="235496" y="231625"/>
            <a:ext cx="603600" cy="603600"/>
          </a:xfrm>
          <a:prstGeom prst="rtTriangle">
            <a:avLst/>
          </a:prstGeom>
          <a:solidFill>
            <a:srgbClr val="25D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3"/>
          <p:cNvSpPr/>
          <p:nvPr/>
        </p:nvSpPr>
        <p:spPr>
          <a:xfrm rot="-5400000">
            <a:off x="8304907" y="3703218"/>
            <a:ext cx="603600" cy="603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46">
          <p15:clr>
            <a:srgbClr val="E46962"/>
          </p15:clr>
        </p15:guide>
        <p15:guide id="2" pos="196">
          <p15:clr>
            <a:srgbClr val="E46962"/>
          </p15:clr>
        </p15:guide>
        <p15:guide id="3" pos="5564">
          <p15:clr>
            <a:srgbClr val="E46962"/>
          </p15:clr>
        </p15:guide>
        <p15:guide id="4" orient="horz" pos="194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Char char="●"/>
              <a:defRPr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○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■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●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○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■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●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○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■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entry.io/answers/difference-between-let-and-var-in-javascript/#:~:text=The%20difference%20between%20let%20and,in%20which%20they're%20declared.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codepen.io/mmtaylo/pen/pvgrWQY?editors=001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codepen.io/mmtaylo/pen/LEGjOp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311708" y="11023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              </a:t>
            </a:r>
            <a:r>
              <a:rPr lang="en" sz="2600">
                <a:solidFill>
                  <a:schemeClr val="lt2"/>
                </a:solidFill>
              </a:rPr>
              <a:t>Education Team</a:t>
            </a:r>
            <a:endParaRPr sz="26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&amp; (some) React</a:t>
            </a:r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311700" y="3154900"/>
            <a:ext cx="8520600" cy="13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Week </a:t>
            </a:r>
            <a:r>
              <a:rPr lang="en">
                <a:solidFill>
                  <a:schemeClr val="accent1"/>
                </a:solidFill>
              </a:rPr>
              <a:t>03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81" name="Google Shape;81;p16"/>
          <p:cNvSpPr/>
          <p:nvPr/>
        </p:nvSpPr>
        <p:spPr>
          <a:xfrm>
            <a:off x="2788300" y="1306025"/>
            <a:ext cx="1246127" cy="2937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rgbClr val="28CFCE"/>
                    </a:gs>
                    <a:gs pos="100000">
                      <a:srgbClr val="2FFB84"/>
                    </a:gs>
                  </a:gsLst>
                  <a:lin ang="5400012" scaled="0"/>
                </a:gradFill>
                <a:latin typeface="Figtree"/>
              </a:rPr>
              <a:t>CS+SG</a:t>
            </a:r>
          </a:p>
        </p:txBody>
      </p:sp>
      <p:sp>
        <p:nvSpPr>
          <p:cNvPr id="82" name="Google Shape;82;p16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84600" y="823629"/>
            <a:ext cx="8374800" cy="3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01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Figtree"/>
              <a:buAutoNum type="arabicPeriod"/>
            </a:pPr>
            <a:r>
              <a:rPr lang="en" sz="4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JavaScript</a:t>
            </a:r>
            <a:endParaRPr sz="4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501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Figtree"/>
              <a:buAutoNum type="alphaLcPeriod"/>
            </a:pPr>
            <a:r>
              <a:rPr lang="en" sz="4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Functions, Objects, DOM</a:t>
            </a:r>
            <a:endParaRPr sz="4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501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Figtree"/>
              <a:buAutoNum type="arabicPeriod"/>
            </a:pPr>
            <a:r>
              <a:rPr lang="en" sz="4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Gabriel Demo!!</a:t>
            </a:r>
            <a:endParaRPr sz="4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501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Figtree"/>
              <a:buAutoNum type="arabicPeriod"/>
            </a:pPr>
            <a:r>
              <a:rPr lang="en" sz="4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React Introduction</a:t>
            </a:r>
            <a:endParaRPr sz="4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250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58500" y="907050"/>
            <a:ext cx="54933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JavaScript (JS)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is a scripting language used on pretty much every single web page today; it is used to give websites behavior/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functionality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JS gives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websites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life!!! Without it, you just have a basic nonfunctional page.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What does “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functionality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” mean?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Added interactivity (show/hide elements, change colors/texts, update content)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Handle user input &amp; validation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Complete calculations &amp; handle data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Talk to APIs (will learn in a few weeks!?)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1975" y="1426288"/>
            <a:ext cx="2763326" cy="276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458500" y="907050"/>
            <a:ext cx="47736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JS Variables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are used to store data values. Variables act as placeholders for various types of information that can be manipulated and referenced within a program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Variable types -&gt;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Different ways of declaring variables: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l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et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(mutable, only available in the block they are defined)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c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onst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(not mutable)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ar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(mutable, available throughout func)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5231950" y="702250"/>
            <a:ext cx="3648900" cy="38163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String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“yellow”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Number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rgbClr val="B6D7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width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rgbClr val="B6D7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15.5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Bigint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rgbClr val="B6D7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123456789012345678901234567890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Boolean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Object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onst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cat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name: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0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‘goose’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color: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0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‘grey’</a:t>
            </a:r>
            <a:r>
              <a:rPr lang="en" sz="1050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Array Object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onst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cats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" sz="10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‘kiki’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0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‘goose’</a:t>
            </a:r>
            <a:r>
              <a:rPr lang="en" sz="1050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Undefined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Null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5232100" y="4611425"/>
            <a:ext cx="2106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Figtree"/>
                <a:ea typeface="Figtree"/>
                <a:cs typeface="Figtree"/>
                <a:sym typeface="Figtree"/>
                <a:hlinkClick r:id="rId4"/>
              </a:rPr>
              <a:t>Let vs. Var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458500" y="907050"/>
            <a:ext cx="47733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JS Functions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are like defined sets of steps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Three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important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actions: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Function declarations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lphaL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construct/declare a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function with a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function keyword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followed by a name, parameters, and body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Function calls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lphaL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Using the function, make sure to provide necessary parameters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Return statements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lphaL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Specifies what the function returns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5231950" y="702250"/>
            <a:ext cx="3648900" cy="42114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Function Declaration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unction </a:t>
            </a:r>
            <a:r>
              <a:rPr lang="en" sz="105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myFunction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050">
              <a:solidFill>
                <a:srgbClr val="F0F07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 sz="1050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r>
              <a:rPr lang="en" sz="1050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eturn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50">
              <a:solidFill>
                <a:srgbClr val="F0F07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0F07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Function Call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" sz="105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myFunction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050">
                <a:solidFill>
                  <a:srgbClr val="B6D7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050">
                <a:solidFill>
                  <a:srgbClr val="B6D7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Function Expressions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</a:t>
            </a:r>
            <a:r>
              <a:rPr lang="en" sz="105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function 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r>
              <a:rPr lang="en" sz="1050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5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050">
                <a:solidFill>
                  <a:srgbClr val="B6D7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050">
                <a:solidFill>
                  <a:srgbClr val="B6D7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can print with console.log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console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05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</a:t>
            </a:r>
            <a:r>
              <a:rPr lang="en" sz="1050">
                <a:solidFill>
                  <a:srgbClr val="F0F0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en" sz="10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5" name="Google Shape;125;p21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Skipping - Function Examples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458500" y="907050"/>
            <a:ext cx="81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Figtree"/>
                <a:ea typeface="Figtree"/>
                <a:cs typeface="Figtree"/>
                <a:sym typeface="Figtree"/>
                <a:hlinkClick r:id="rId4"/>
              </a:rPr>
              <a:t>https://codepen.io/mmtaylo/pen/pvgrWQY?editors=0010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Object Model (DOM)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458500" y="810800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The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Document Object Model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(DOM)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is the way the browser represents your web page as a structured tree of objects that JS can see and manipulate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100" y="1801500"/>
            <a:ext cx="4680624" cy="278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458500" y="1801500"/>
            <a:ext cx="3448200" cy="22797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&lt;!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DOCTYPE</a:t>
            </a:r>
            <a:r>
              <a:rPr lang="en" sz="1050">
                <a:solidFill>
                  <a:srgbClr val="CCCC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" sz="1050">
                <a:solidFill>
                  <a:srgbClr val="CCCC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lang</a:t>
            </a:r>
            <a:r>
              <a:rPr lang="en" sz="1050">
                <a:solidFill>
                  <a:srgbClr val="CCCC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" sz="10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"en"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" sz="10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 Title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&lt;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</a:t>
            </a:r>
            <a:r>
              <a:rPr lang="en" sz="1050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" sz="10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"contact.html"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" sz="10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 Link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h1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" sz="10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 Header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h1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&lt;/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5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</a:t>
            </a:r>
            <a:r>
              <a:rPr lang="en" sz="10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" sz="105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0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accen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458500" y="4081200"/>
            <a:ext cx="3448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Each element becomes a JS object!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3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4" name="Google Shape;144;p23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 </a:t>
            </a:r>
            <a:r>
              <a:rPr lang="en"/>
              <a:t>Manipulation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458500" y="810800"/>
            <a:ext cx="8520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DOM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Manipulation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is a way to change your website after it has been loaded, aka respond to users in real time!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Codepen: </a:t>
            </a:r>
            <a:r>
              <a:rPr lang="en" sz="1800" u="sng">
                <a:solidFill>
                  <a:schemeClr val="hlink"/>
                </a:solidFill>
                <a:latin typeface="Figtree"/>
                <a:ea typeface="Figtree"/>
                <a:cs typeface="Figtree"/>
                <a:sym typeface="Figtree"/>
                <a:hlinkClick r:id="rId4"/>
              </a:rPr>
              <a:t>https://codepen.io/mmtaylo/pen/LEGjOpy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4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2" name="Google Shape;152;p24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React!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458500" y="810800"/>
            <a:ext cx="8520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React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is a JS library/framework that make it much easier to create functional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websites by using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components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, which are really just JS functions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React uses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.jsx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files, which use a JS function to display HTML by “returning” it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4" name="Google Shape;154;p24" title="react-logo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4050" y="2592788"/>
            <a:ext cx="3174450" cy="17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 txBox="1"/>
          <p:nvPr/>
        </p:nvSpPr>
        <p:spPr>
          <a:xfrm>
            <a:off x="458500" y="2063600"/>
            <a:ext cx="48972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Components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are bits of code that can be reused throughout your website; they can be ‘fed’ different bits of information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When to use components?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Frequently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recurring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stagnant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elements (header, nav, footer)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Elements that have the same structure but different details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5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2" name="Google Shape;162;p25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React work?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458500" y="939750"/>
            <a:ext cx="3714000" cy="3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myImg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from 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"images/logo.png"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Navigation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from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"./components/Navigation"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function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DCDCAA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App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(){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// JS functions here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return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(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Navigation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img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src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F0F0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{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myImg</a:t>
            </a:r>
            <a:r>
              <a:rPr lang="en" sz="1150">
                <a:solidFill>
                  <a:srgbClr val="F0F0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}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&lt;/&gt;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);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}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export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default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DCDCAA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App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80808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4172500" y="810800"/>
            <a:ext cx="46548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React builds user interfaces using Components, which are just JS functions.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When a component is rendered, React: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Runs the component function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Returns the JSX (which looks like HTML, but is not HTML)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Updates the DOM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Rules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58500" y="810800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 React file function must only return a singular element!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The function to be exported should be named the same as your .jsx file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Each file can only have only one default export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You must import images, components, styles before using them!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Use curly braces for your JS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27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Routing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4335600" y="810800"/>
            <a:ext cx="46434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Routing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allows you to navigate between different pages without reloading your browser; goes in your App.jsx file!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Char char="●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BrowserRouter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“wraps” your app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Char char="●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Routes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is a container for your routes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Char char="●"/>
            </a:pP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Route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defines each path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Char char="○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First route is where you want your users to enter first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458500" y="939750"/>
            <a:ext cx="3877200" cy="3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{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BrowserRouter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,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Routes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,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}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from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"react-router-dom"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Home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from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"./pages/Home"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Profile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from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"./pages/Profile"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function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DCDCAA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App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() {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return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(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BrowserRouter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Routes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path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"/"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element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{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Home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}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path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"/profile"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element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{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Profile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}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&lt;/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Routes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&lt;/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BrowserRouter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);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}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C586C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22F0BD"/>
      </a:accent1>
      <a:accent2>
        <a:srgbClr val="FE654F"/>
      </a:accent2>
      <a:accent3>
        <a:srgbClr val="FFB910"/>
      </a:accent3>
      <a:accent4>
        <a:srgbClr val="98DC69"/>
      </a:accent4>
      <a:accent5>
        <a:srgbClr val="C495F0"/>
      </a:accent5>
      <a:accent6>
        <a:srgbClr val="FFB0F0"/>
      </a:accent6>
      <a:hlink>
        <a:srgbClr val="6FC5FF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